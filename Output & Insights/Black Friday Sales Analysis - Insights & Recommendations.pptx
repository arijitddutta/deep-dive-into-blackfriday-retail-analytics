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F9387F-F645-4181-A5C5-42E2105DBA36}" v="1" dt="2026-09-15T15:26:45.6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ijit Dutta" userId="7173a61fdc4f30ad" providerId="LiveId" clId="{45BEFD53-725E-4757-828D-538A62C636EF}"/>
    <pc:docChg chg="custSel modSld">
      <pc:chgData name="Arijit Dutta" userId="7173a61fdc4f30ad" providerId="LiveId" clId="{45BEFD53-725E-4757-828D-538A62C636EF}" dt="2026-09-15T15:32:18.481" v="183" actId="20577"/>
      <pc:docMkLst>
        <pc:docMk/>
      </pc:docMkLst>
      <pc:sldChg chg="modSp mod">
        <pc:chgData name="Arijit Dutta" userId="7173a61fdc4f30ad" providerId="LiveId" clId="{45BEFD53-725E-4757-828D-538A62C636EF}" dt="2026-09-15T15:27:40.358" v="78" actId="20577"/>
        <pc:sldMkLst>
          <pc:docMk/>
          <pc:sldMk cId="0" sldId="256"/>
        </pc:sldMkLst>
        <pc:spChg chg="mod">
          <ac:chgData name="Arijit Dutta" userId="7173a61fdc4f30ad" providerId="LiveId" clId="{45BEFD53-725E-4757-828D-538A62C636EF}" dt="2026-09-15T15:27:40.358" v="78" actId="20577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Arijit Dutta" userId="7173a61fdc4f30ad" providerId="LiveId" clId="{45BEFD53-725E-4757-828D-538A62C636EF}" dt="2026-09-15T15:28:21.839" v="101" actId="20577"/>
        <pc:sldMkLst>
          <pc:docMk/>
          <pc:sldMk cId="0" sldId="258"/>
        </pc:sldMkLst>
        <pc:spChg chg="mod">
          <ac:chgData name="Arijit Dutta" userId="7173a61fdc4f30ad" providerId="LiveId" clId="{45BEFD53-725E-4757-828D-538A62C636EF}" dt="2026-09-15T15:28:21.839" v="101" actId="20577"/>
          <ac:spMkLst>
            <pc:docMk/>
            <pc:sldMk cId="0" sldId="258"/>
            <ac:spMk id="5" creationId="{00000000-0000-0000-0000-000000000000}"/>
          </ac:spMkLst>
        </pc:spChg>
      </pc:sldChg>
      <pc:sldChg chg="modSp mod">
        <pc:chgData name="Arijit Dutta" userId="7173a61fdc4f30ad" providerId="LiveId" clId="{45BEFD53-725E-4757-828D-538A62C636EF}" dt="2026-09-15T15:29:28.387" v="111" actId="20577"/>
        <pc:sldMkLst>
          <pc:docMk/>
          <pc:sldMk cId="0" sldId="260"/>
        </pc:sldMkLst>
        <pc:spChg chg="mod">
          <ac:chgData name="Arijit Dutta" userId="7173a61fdc4f30ad" providerId="LiveId" clId="{45BEFD53-725E-4757-828D-538A62C636EF}" dt="2026-09-15T15:28:53.595" v="103" actId="20577"/>
          <ac:spMkLst>
            <pc:docMk/>
            <pc:sldMk cId="0" sldId="260"/>
            <ac:spMk id="14" creationId="{00000000-0000-0000-0000-000000000000}"/>
          </ac:spMkLst>
        </pc:spChg>
        <pc:spChg chg="mod">
          <ac:chgData name="Arijit Dutta" userId="7173a61fdc4f30ad" providerId="LiveId" clId="{45BEFD53-725E-4757-828D-538A62C636EF}" dt="2026-09-15T15:29:28.387" v="111" actId="20577"/>
          <ac:spMkLst>
            <pc:docMk/>
            <pc:sldMk cId="0" sldId="260"/>
            <ac:spMk id="17" creationId="{00000000-0000-0000-0000-000000000000}"/>
          </ac:spMkLst>
        </pc:spChg>
      </pc:sldChg>
      <pc:sldChg chg="modSp mod">
        <pc:chgData name="Arijit Dutta" userId="7173a61fdc4f30ad" providerId="LiveId" clId="{45BEFD53-725E-4757-828D-538A62C636EF}" dt="2026-09-15T15:30:02.292" v="123" actId="20577"/>
        <pc:sldMkLst>
          <pc:docMk/>
          <pc:sldMk cId="0" sldId="261"/>
        </pc:sldMkLst>
        <pc:spChg chg="mod">
          <ac:chgData name="Arijit Dutta" userId="7173a61fdc4f30ad" providerId="LiveId" clId="{45BEFD53-725E-4757-828D-538A62C636EF}" dt="2026-09-15T15:30:02.292" v="123" actId="20577"/>
          <ac:spMkLst>
            <pc:docMk/>
            <pc:sldMk cId="0" sldId="261"/>
            <ac:spMk id="13" creationId="{00000000-0000-0000-0000-000000000000}"/>
          </ac:spMkLst>
        </pc:spChg>
      </pc:sldChg>
      <pc:sldChg chg="modSp mod">
        <pc:chgData name="Arijit Dutta" userId="7173a61fdc4f30ad" providerId="LiveId" clId="{45BEFD53-725E-4757-828D-538A62C636EF}" dt="2026-09-15T15:30:32.453" v="138" actId="20577"/>
        <pc:sldMkLst>
          <pc:docMk/>
          <pc:sldMk cId="0" sldId="263"/>
        </pc:sldMkLst>
        <pc:spChg chg="mod">
          <ac:chgData name="Arijit Dutta" userId="7173a61fdc4f30ad" providerId="LiveId" clId="{45BEFD53-725E-4757-828D-538A62C636EF}" dt="2026-09-15T15:30:32.453" v="138" actId="20577"/>
          <ac:spMkLst>
            <pc:docMk/>
            <pc:sldMk cId="0" sldId="263"/>
            <ac:spMk id="43" creationId="{00000000-0000-0000-0000-000000000000}"/>
          </ac:spMkLst>
        </pc:spChg>
      </pc:sldChg>
      <pc:sldChg chg="modSp mod">
        <pc:chgData name="Arijit Dutta" userId="7173a61fdc4f30ad" providerId="LiveId" clId="{45BEFD53-725E-4757-828D-538A62C636EF}" dt="2026-09-15T15:31:11.964" v="154" actId="20577"/>
        <pc:sldMkLst>
          <pc:docMk/>
          <pc:sldMk cId="0" sldId="265"/>
        </pc:sldMkLst>
        <pc:spChg chg="mod">
          <ac:chgData name="Arijit Dutta" userId="7173a61fdc4f30ad" providerId="LiveId" clId="{45BEFD53-725E-4757-828D-538A62C636EF}" dt="2026-09-15T15:30:50.847" v="140" actId="14100"/>
          <ac:spMkLst>
            <pc:docMk/>
            <pc:sldMk cId="0" sldId="265"/>
            <ac:spMk id="13" creationId="{00000000-0000-0000-0000-000000000000}"/>
          </ac:spMkLst>
        </pc:spChg>
        <pc:spChg chg="mod">
          <ac:chgData name="Arijit Dutta" userId="7173a61fdc4f30ad" providerId="LiveId" clId="{45BEFD53-725E-4757-828D-538A62C636EF}" dt="2026-09-15T15:31:11.964" v="154" actId="20577"/>
          <ac:spMkLst>
            <pc:docMk/>
            <pc:sldMk cId="0" sldId="265"/>
            <ac:spMk id="14" creationId="{00000000-0000-0000-0000-000000000000}"/>
          </ac:spMkLst>
        </pc:spChg>
      </pc:sldChg>
      <pc:sldChg chg="modSp mod">
        <pc:chgData name="Arijit Dutta" userId="7173a61fdc4f30ad" providerId="LiveId" clId="{45BEFD53-725E-4757-828D-538A62C636EF}" dt="2026-09-15T15:32:07.247" v="172" actId="20577"/>
        <pc:sldMkLst>
          <pc:docMk/>
          <pc:sldMk cId="0" sldId="266"/>
        </pc:sldMkLst>
        <pc:spChg chg="mod">
          <ac:chgData name="Arijit Dutta" userId="7173a61fdc4f30ad" providerId="LiveId" clId="{45BEFD53-725E-4757-828D-538A62C636EF}" dt="2026-09-15T15:32:07.247" v="172" actId="20577"/>
          <ac:spMkLst>
            <pc:docMk/>
            <pc:sldMk cId="0" sldId="266"/>
            <ac:spMk id="11" creationId="{00000000-0000-0000-0000-000000000000}"/>
          </ac:spMkLst>
        </pc:spChg>
        <pc:picChg chg="mod">
          <ac:chgData name="Arijit Dutta" userId="7173a61fdc4f30ad" providerId="LiveId" clId="{45BEFD53-725E-4757-828D-538A62C636EF}" dt="2026-09-15T15:31:29.577" v="155" actId="14100"/>
          <ac:picMkLst>
            <pc:docMk/>
            <pc:sldMk cId="0" sldId="266"/>
            <ac:picMk id="5" creationId="{00000000-0000-0000-0000-000000000000}"/>
          </ac:picMkLst>
        </pc:picChg>
      </pc:sldChg>
      <pc:sldChg chg="modSp mod">
        <pc:chgData name="Arijit Dutta" userId="7173a61fdc4f30ad" providerId="LiveId" clId="{45BEFD53-725E-4757-828D-538A62C636EF}" dt="2026-09-15T15:32:18.481" v="183" actId="20577"/>
        <pc:sldMkLst>
          <pc:docMk/>
          <pc:sldMk cId="0" sldId="267"/>
        </pc:sldMkLst>
        <pc:spChg chg="mod">
          <ac:chgData name="Arijit Dutta" userId="7173a61fdc4f30ad" providerId="LiveId" clId="{45BEFD53-725E-4757-828D-538A62C636EF}" dt="2026-09-15T15:32:18.481" v="183" actId="20577"/>
          <ac:spMkLst>
            <pc:docMk/>
            <pc:sldMk cId="0" sldId="267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7437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2A3675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kern="0" spc="2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 – Learner ID: 24CRDO5100 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237744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 Friday Sales Analysis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Review — From Raw Data to Strategic Recommendations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B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Arijit  ·  Career247 Data Analytics with GenAI Capstone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Walkthrough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212080" cy="1051560"/>
          </a:xfrm>
          <a:prstGeom prst="roundRect">
            <a:avLst>
              <a:gd name="adj" fmla="val 7826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0195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37360" y="18653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Context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37360" y="223113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project, and what leadership asked for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212080" cy="1051560"/>
          </a:xfrm>
          <a:prstGeom prst="roundRect">
            <a:avLst>
              <a:gd name="adj" fmla="val 7826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90195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269480" y="18653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Foundation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269480" y="223113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CSV to a validated, constrained SQL model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2990088"/>
            <a:ext cx="5212080" cy="1051560"/>
          </a:xfrm>
          <a:prstGeom prst="roundRect">
            <a:avLst>
              <a:gd name="adj" fmla="val 7826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31546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737360" y="311810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Analysis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37360" y="348386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Outliers, category &amp; city contribution, demographics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2990088"/>
            <a:ext cx="5212080" cy="1051560"/>
          </a:xfrm>
          <a:prstGeom prst="roundRect">
            <a:avLst>
              <a:gd name="adj" fmla="val 7826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31546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269480" y="311810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Validation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69480" y="348386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 on key business assumptions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4242816"/>
            <a:ext cx="5212080" cy="1051560"/>
          </a:xfrm>
          <a:prstGeom prst="roundRect">
            <a:avLst>
              <a:gd name="adj" fmla="val 7826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0120" y="4407408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737360" y="43708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737360" y="47365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tiers and behavioral drivers of spend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4242816"/>
            <a:ext cx="5212080" cy="1051560"/>
          </a:xfrm>
          <a:prstGeom prst="roundRect">
            <a:avLst>
              <a:gd name="adj" fmla="val 7826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92240" y="4407408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269480" y="43708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Dashboard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69480" y="47365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executive, marketing &amp; product views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31520" y="5495544"/>
            <a:ext cx="5212080" cy="1051560"/>
          </a:xfrm>
          <a:prstGeom prst="roundRect">
            <a:avLst>
              <a:gd name="adj" fmla="val 7826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60120" y="5660136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737360" y="5623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737360" y="59893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findings that matter most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63640" y="5495544"/>
            <a:ext cx="5212080" cy="1051560"/>
          </a:xfrm>
          <a:prstGeom prst="roundRect">
            <a:avLst>
              <a:gd name="adj" fmla="val 7826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92240" y="5660136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7269480" y="5623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269480" y="59893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actions, backed by metrics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SALES ANALYSIS — STAKEHOLDER REVIEW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45720" cy="384048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60020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drives peak transaction volume across physical and online channels,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millions of customers, thousands of products, one high-pressure sales window. Our organization captured a full transaction extract from a major Black Friday campaign, and leadership asked four questions: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306324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 segments contribute the most — and which are underpenetrated?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demographics influence purchase size and category mix?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 categories dominate, and where can we cross-sell?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retain high-value customers beyond Black Friday?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040880" y="1600200"/>
            <a:ext cx="4434840" cy="4434840"/>
          </a:xfrm>
          <a:prstGeom prst="roundRect">
            <a:avLst>
              <a:gd name="adj" fmla="val 1856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06640" y="1965960"/>
            <a:ext cx="640080" cy="64008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9" name="Image 0" descr="/home/claude/stakeholder_deck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10312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06640" y="274320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MANDATE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406640" y="306324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550,068 transactions into a validated, defensible strategy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406640" y="3977640"/>
            <a:ext cx="3703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in this deck is traceable to a SQL query, a Python computation, or a live dashboard filter — not an assumption.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SALES ANALYSIS — STAKEHOLDER REVIEW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CSV to a Validated Data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726377" y="1408176"/>
            <a:ext cx="4959726" cy="2852928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pic>
        <p:nvPicPr>
          <p:cNvPr id="5" name="Image 0" descr="/home/claude/stakeholder_deck/assets/sch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241" y="1463040"/>
            <a:ext cx="4849998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93089" y="4288536"/>
            <a:ext cx="2368702" cy="1801368"/>
          </a:xfrm>
          <a:prstGeom prst="roundRect">
            <a:avLst>
              <a:gd name="adj" fmla="val 456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pic>
        <p:nvPicPr>
          <p:cNvPr id="7" name="Image 1" descr="/home/claude/stakeholder_deck/assets/py_sql_dd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7953" y="4343400"/>
            <a:ext cx="2258974" cy="16916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065776" y="4288536"/>
            <a:ext cx="1801368" cy="1801368"/>
          </a:xfrm>
          <a:prstGeom prst="roundRect">
            <a:avLst>
              <a:gd name="adj" fmla="val 456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pic>
        <p:nvPicPr>
          <p:cNvPr id="9" name="Image 2" descr="/home/claude/stakeholder_deck/assets/py_kpi_tab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4343400"/>
            <a:ext cx="1691640" cy="169164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8001000" y="1463040"/>
            <a:ext cx="3474720" cy="1051560"/>
          </a:xfrm>
          <a:prstGeom prst="roundRect">
            <a:avLst>
              <a:gd name="adj" fmla="val 7826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11" name="Text 6"/>
          <p:cNvSpPr/>
          <p:nvPr/>
        </p:nvSpPr>
        <p:spPr>
          <a:xfrm>
            <a:off x="8001000" y="157276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550,068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8001000" y="21214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MIGRATED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8001000" y="2633472"/>
            <a:ext cx="3474720" cy="1051560"/>
          </a:xfrm>
          <a:prstGeom prst="roundRect">
            <a:avLst>
              <a:gd name="adj" fmla="val 7826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8001000" y="2743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8001000" y="3291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KEYS FOUND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8001000" y="3803904"/>
            <a:ext cx="3474720" cy="1051560"/>
          </a:xfrm>
          <a:prstGeom prst="roundRect">
            <a:avLst>
              <a:gd name="adj" fmla="val 7826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8001000" y="39136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8001000" y="44622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 IN REQUIRED FIELDS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8001000" y="4974336"/>
            <a:ext cx="3474720" cy="1051560"/>
          </a:xfrm>
          <a:prstGeom prst="roundRect">
            <a:avLst>
              <a:gd name="adj" fmla="val 7826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8001000" y="508406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₹5.10bn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8001000" y="56327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VALIDATED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731520" y="61722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→ constrained table (PK, NOT NULL, CHECK Purchase &gt; 0) → dimension views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SALES ANALYSIS — STAKEHOLDER REVIEW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 Validation — Flagged, Not Removed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79955" y="1362456"/>
            <a:ext cx="5052370" cy="2487168"/>
          </a:xfrm>
          <a:prstGeom prst="roundRect">
            <a:avLst>
              <a:gd name="adj" fmla="val 33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pic>
        <p:nvPicPr>
          <p:cNvPr id="5" name="Image 0" descr="/home/claude/stakeholder_deck/assets/chart_outli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819" y="1417320"/>
            <a:ext cx="4942642" cy="2377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481836" y="3877056"/>
            <a:ext cx="3848608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pic>
        <p:nvPicPr>
          <p:cNvPr id="7" name="Image 1" descr="/home/claude/stakeholder_deck/assets/py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6700" y="3931920"/>
            <a:ext cx="3738880" cy="21031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608076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(matplotlib) — raw distribution output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6492240" y="1417320"/>
            <a:ext cx="4983480" cy="4617720"/>
          </a:xfrm>
          <a:prstGeom prst="roundRect">
            <a:avLst>
              <a:gd name="adj" fmla="val 1782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858000" y="173736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0.49%</a:t>
            </a:r>
            <a:endParaRPr lang="en-US" sz="3200" dirty="0"/>
          </a:p>
        </p:txBody>
      </p:sp>
      <p:sp>
        <p:nvSpPr>
          <p:cNvPr id="11" name="Text 7"/>
          <p:cNvSpPr/>
          <p:nvPr/>
        </p:nvSpPr>
        <p:spPr>
          <a:xfrm>
            <a:off x="6858000" y="23317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transactions exceed the IQR upper bound of ₹21,400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858000" y="2971800"/>
            <a:ext cx="4251960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858000" y="310896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rows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6858000" y="370332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by a z-score test (|z| &gt; 3) : the distribution is right-skewed, not erratic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858000" y="4434840"/>
            <a:ext cx="4251960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858000" y="457200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of flagged rows sit in a single premium category, where they make up 44% of its volume.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858000" y="530352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category-driven pricing, not data error –retained and flagged as a high-value indicator.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SALES ANALYSIS — STAKEHOLDER REVIEW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&amp; Geographic Contribution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85216" y="1569680"/>
            <a:ext cx="5550408" cy="2712799"/>
          </a:xfrm>
          <a:prstGeom prst="roundRect">
            <a:avLst>
              <a:gd name="adj" fmla="val 303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pic>
        <p:nvPicPr>
          <p:cNvPr id="5" name="Image 0" descr="/home/claude/stakeholder_deck/assets/chart_categ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24544"/>
            <a:ext cx="5440680" cy="260307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17336" y="1569680"/>
            <a:ext cx="5550408" cy="2712799"/>
          </a:xfrm>
          <a:prstGeom prst="roundRect">
            <a:avLst>
              <a:gd name="adj" fmla="val 303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pic>
        <p:nvPicPr>
          <p:cNvPr id="7" name="Image 1" descr="/home/claude/stakeholder_deck/assets/chart_c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624544"/>
            <a:ext cx="5440680" cy="2603071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46177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914400" y="47823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Concentrated portfolio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914400" y="514807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5 of 20 categories generate 84.5% of revenue. Inventory and promotional planning should weight accordingly.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172200" y="46177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446520" y="47823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≠ value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46520" y="514807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C holds the most customers but the least revenue per head which is  the largest untapped opportunity in the business.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SALES ANALYSIS — STAKEHOLDER REVIEW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Demographic Deep-Dive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76656" y="1628968"/>
            <a:ext cx="5458968" cy="4148705"/>
          </a:xfrm>
          <a:prstGeom prst="roundRect">
            <a:avLst>
              <a:gd name="adj" fmla="val 198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pic>
        <p:nvPicPr>
          <p:cNvPr id="5" name="Image 0" descr="/home/claude/stakeholder_deck/assets/py_demograph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83832"/>
            <a:ext cx="5349240" cy="403897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08776" y="1962891"/>
            <a:ext cx="5321808" cy="3480858"/>
          </a:xfrm>
          <a:prstGeom prst="roundRect">
            <a:avLst>
              <a:gd name="adj" fmla="val 236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pic>
        <p:nvPicPr>
          <p:cNvPr id="7" name="Image 1" descr="/home/claude/stakeholder_deck/assets/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017755"/>
            <a:ext cx="5212080" cy="33711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6053328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· Age · Marital status breakdown (Python)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6263640" y="605332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× Category revenue concentration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SALES ANALYSIS — STAKEHOLDER REVIEW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 Testing — What Actually Holds 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36192"/>
            <a:ext cx="10698480" cy="530352"/>
          </a:xfrm>
          <a:prstGeom prst="roundRect">
            <a:avLst>
              <a:gd name="adj" fmla="val 1034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36192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74920" y="1536192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0" y="1536192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829800" y="153619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2066544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purchase differs by Gender?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4920" y="2066544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Welch's t-test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0" y="2066544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16.49, p &lt; 0.05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829800" y="2066544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596896"/>
            <a:ext cx="10698480" cy="0"/>
          </a:xfrm>
          <a:prstGeom prst="line">
            <a:avLst/>
          </a:prstGeom>
          <a:noFill/>
          <a:ln w="9525">
            <a:solidFill>
              <a:srgbClr val="E3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596896"/>
            <a:ext cx="10698480" cy="530352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596896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purchase differs by Age?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2596896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ANOVA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0" y="2596896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5.05, p &lt; 0.05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829800" y="2596896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127248"/>
            <a:ext cx="10698480" cy="0"/>
          </a:xfrm>
          <a:prstGeom prst="line">
            <a:avLst/>
          </a:prstGeom>
          <a:noFill/>
          <a:ln w="9525">
            <a:solidFill>
              <a:srgbClr val="E3E6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127248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purchase differs by City Category?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74920" y="312724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ANOVA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0" y="3127248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17.05, p &lt; 0.05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829800" y="312724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3657600"/>
            <a:ext cx="10698480" cy="0"/>
          </a:xfrm>
          <a:prstGeom prst="line">
            <a:avLst/>
          </a:prstGeom>
          <a:noFill/>
          <a:ln w="9525">
            <a:solidFill>
              <a:srgbClr val="E3E6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3657600"/>
            <a:ext cx="10698480" cy="530352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3657600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Breadth associated with Total Spend?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74920" y="365760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0" y="3657600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0.734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829800" y="365760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520" y="4187952"/>
            <a:ext cx="10698480" cy="0"/>
          </a:xfrm>
          <a:prstGeom prst="line">
            <a:avLst/>
          </a:prstGeom>
          <a:noFill/>
          <a:ln w="9525">
            <a:solidFill>
              <a:srgbClr val="E3E6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187952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Tenure associated with Avg Purchase?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74920" y="4187952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correlation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0" y="4187952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 = 0.017, p = 0.1925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829800" y="418795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to Reject H₀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1520" y="4718304"/>
            <a:ext cx="10698480" cy="0"/>
          </a:xfrm>
          <a:prstGeom prst="line">
            <a:avLst/>
          </a:prstGeom>
          <a:noFill/>
          <a:ln w="9525">
            <a:solidFill>
              <a:srgbClr val="E3E6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1520" y="4718304"/>
            <a:ext cx="10698480" cy="530352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4718304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purchase differs by Occupation?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74920" y="4718304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ANOVA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15200" y="4718304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7.50, p &lt; 0.05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829800" y="4718304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31520" y="5248656"/>
            <a:ext cx="10698480" cy="0"/>
          </a:xfrm>
          <a:prstGeom prst="line">
            <a:avLst/>
          </a:prstGeom>
          <a:noFill/>
          <a:ln w="9525">
            <a:solidFill>
              <a:srgbClr val="E3E6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1520" y="5449824"/>
            <a:ext cx="10698480" cy="868680"/>
          </a:xfrm>
          <a:prstGeom prst="roundRect">
            <a:avLst>
              <a:gd name="adj" fmla="val 9474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005840" y="5568696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age, city, and occupation all show significant differences in purchase value where each is usable for segmentation. City tenure does </a:t>
            </a: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 = 0.1925), so it should be excluded from targeting logic. Significant ANOVA identifies that groups differ, not which ones for that post-hoc testing required.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SALES ANALYSIS — STAKEHOLDER REVIEW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Is Concentrated in a Small Segment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76656" y="2074644"/>
            <a:ext cx="7242048" cy="3623112"/>
          </a:xfrm>
          <a:prstGeom prst="roundRect">
            <a:avLst>
              <a:gd name="adj" fmla="val 227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pic>
        <p:nvPicPr>
          <p:cNvPr id="5" name="Image 0" descr="/home/claude/stakeholder_deck/assets/chart_va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29508"/>
            <a:ext cx="7132320" cy="35133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38160" y="1417320"/>
            <a:ext cx="3337560" cy="4206240"/>
          </a:xfrm>
          <a:prstGeom prst="roundRect">
            <a:avLst>
              <a:gd name="adj" fmla="val 2466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458200" y="17373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62.46%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8458200" y="242316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revenue comes from just the top 25% of customers by spend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458200" y="3429000"/>
            <a:ext cx="2697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Retaining this segment protects the majority of the business — it is the single highest-leverage group in the dataset.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SALES ANALYSIS — STAKEHOLDER REVIEW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Breadth Is the Strongest Behavioral Driver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429000" cy="2743200"/>
          </a:xfrm>
          <a:prstGeom prst="roundRect">
            <a:avLst>
              <a:gd name="adj" fmla="val 3000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1945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0.734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51560" y="320040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category breadth and total spend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34840" y="1737360"/>
            <a:ext cx="3429000" cy="2743200"/>
          </a:xfrm>
          <a:prstGeom prst="roundRect">
            <a:avLst>
              <a:gd name="adj" fmla="val 3000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34840" y="21945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13.8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754880" y="320040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categories purchased by High-Value customers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737360"/>
            <a:ext cx="3429000" cy="2743200"/>
          </a:xfrm>
          <a:prstGeom prst="roundRect">
            <a:avLst>
              <a:gd name="adj" fmla="val 3000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38160" y="21945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458200" y="320040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categories purchased by Low-Value customers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08660" y="4846320"/>
            <a:ext cx="0" cy="109728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84632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demographic traits, category breadth is directly actionable therefore bundling and cross-sell recommendations can move a customer    up-tier</a:t>
            </a: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SALES ANALYSIS — STAKEHOLDER REVIEW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— Home &amp; Executive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85216" y="1700355"/>
            <a:ext cx="5550408" cy="3000089"/>
          </a:xfrm>
          <a:prstGeom prst="roundRect">
            <a:avLst>
              <a:gd name="adj" fmla="val 27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pic>
        <p:nvPicPr>
          <p:cNvPr id="5" name="Image 0" descr="/home/claude/stakeholder_deck/assets/dash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55219"/>
            <a:ext cx="5440680" cy="29274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17336" y="1718110"/>
            <a:ext cx="5550408" cy="2964579"/>
          </a:xfrm>
          <a:prstGeom prst="roundRect">
            <a:avLst>
              <a:gd name="adj" fmla="val 277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pic>
        <p:nvPicPr>
          <p:cNvPr id="7" name="Image 1" descr="/home/claude/stakeholder_deck/assets/dash_ex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772974"/>
            <a:ext cx="5440680" cy="285485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484632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with cross-page navigation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172200" y="484632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 — KPIs, age, gender, category &amp; city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40080" y="534924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914400" y="54681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pages share a common filter panel which are  </a:t>
            </a: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Age, Marital Status and City Category</a:t>
            </a: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so any finding in this deck can be re-sliced live during discussion.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SALES ANALYSIS — STAKEHOLDER REVIEW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— Customer, Marketing &amp; Product Views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85216" y="1685509"/>
            <a:ext cx="5550408" cy="3121223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pic>
        <p:nvPicPr>
          <p:cNvPr id="5" name="Image 0" descr="/home/claude/stakeholder_deck/assets/dash_cu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40373"/>
            <a:ext cx="5440680" cy="30114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61322" y="1682496"/>
            <a:ext cx="5462436" cy="3127248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pic>
        <p:nvPicPr>
          <p:cNvPr id="7" name="Image 1" descr="/home/claude/stakeholder_deck/assets/dash_pro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6186" y="1737360"/>
            <a:ext cx="5352708" cy="3017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493776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Marketing — value tiers, spend distribution, breadth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172200" y="493776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Geographic — portfolio matrix, city×category, cross-sell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40080" y="5440680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914400" y="555955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opportunity rate of </a:t>
            </a:r>
            <a:r>
              <a:rPr lang="en-US" sz="11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12.26%</a:t>
            </a: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identifies </a:t>
            </a:r>
            <a:r>
              <a:rPr lang="en-US" sz="11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722 target customers</a:t>
            </a: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therefore  a directly actionable campaign list, not just a descriptive metric.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SALES ANALYSIS — STAKEHOLDER REVIEW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5" name="Image 0" descr="/home/claude/stakeholder_deck/icons/tre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37360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is concentrated in a small High-Value segment.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63040" y="194767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25% of customers generate 62.46% of revenue.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31520" y="2496312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9" name="Image 1" descr="/home/claude/stakeholder_deck/icons/pack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633472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4688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are concentrated in a handful of categories.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463040" y="284378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1 alone drives 37.5%; top 5 categories = 84.5% of sales.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31520" y="3392424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3" name="Image 2" descr="/home/claude/stakeholder_deck/icons/p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529584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36499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 C is the largest but most underpenetrated market.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63040" y="373989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53.3% of customers, only 32.7% of revenue.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31520" y="4288536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7" name="Image 3" descr="/home/claude/stakeholder_deck/icons/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425696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426110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breadth is the strongest driver of customer value.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463040" y="463600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0.734; High-Value customers span 13.8 categories vs. 6.3.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731520" y="5184648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21" name="Image 4" descr="/home/claude/stakeholder_deck/icons/us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5321808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63040" y="515721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customer base is demographically concentrated.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1463040" y="55321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= 76.72% of revenue; Age 26–35 = 39.9% of revenue.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SALES ANALYSIS — STAKEHOLDER REVIEW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429000" cy="3977640"/>
          </a:xfrm>
          <a:prstGeom prst="roundRect">
            <a:avLst>
              <a:gd name="adj" fmla="val 2400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965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05840" y="26060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High-Value Retention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005840" y="3337560"/>
            <a:ext cx="2880360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5204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program for the top 25% of customers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448056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47548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62.46% of revenue protected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34840" y="1737360"/>
            <a:ext cx="3429000" cy="3977640"/>
          </a:xfrm>
          <a:prstGeom prst="roundRect">
            <a:avLst>
              <a:gd name="adj" fmla="val 2400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965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09160" y="26060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 C Activation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709160" y="3337560"/>
            <a:ext cx="2880360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35204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Frequency-focused campaign, not discount-led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448056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09160" y="47548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headroom in the business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38160" y="1737360"/>
            <a:ext cx="3429000" cy="3977640"/>
          </a:xfrm>
          <a:prstGeom prst="roundRect">
            <a:avLst>
              <a:gd name="adj" fmla="val 2400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11111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12480" y="1965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412480" y="26060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Category-Breadth Cross-Sell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412480" y="3337560"/>
            <a:ext cx="2880360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35204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recommendations using r = 0.734 signal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0" y="448056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12480" y="47548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moves customers up-tier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SALES ANALYSIS — STAKEHOLDER REVIEW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931920"/>
            <a:ext cx="4754880" cy="4754880"/>
          </a:xfrm>
          <a:prstGeom prst="ellipse">
            <a:avLst/>
          </a:prstGeom>
          <a:solidFill>
            <a:srgbClr val="2A367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337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8B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methodology, SQL scripts, notebooks, and the live dashboard are available in the project repository.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Arijit  ·  Career247 Data Analytics with GenAI Capstone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1171</Words>
  <Application>Microsoft Office PowerPoint</Application>
  <PresentationFormat>Widescreen</PresentationFormat>
  <Paragraphs>199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Arijit Dutta</cp:lastModifiedBy>
  <cp:revision>1</cp:revision>
  <dcterms:created xsi:type="dcterms:W3CDTF">2026-09-15T15:08:33Z</dcterms:created>
  <dcterms:modified xsi:type="dcterms:W3CDTF">2026-09-15T15:32:28Z</dcterms:modified>
</cp:coreProperties>
</file>