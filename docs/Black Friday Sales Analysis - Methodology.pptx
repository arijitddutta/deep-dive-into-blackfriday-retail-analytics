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7935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120640" cy="5120640"/>
          </a:xfrm>
          <a:prstGeom prst="ellipse">
            <a:avLst/>
          </a:prstGeom>
          <a:solidFill>
            <a:srgbClr val="2A3675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377440" cy="23774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4" name="Shape 2"/>
          <p:cNvSpPr/>
          <p:nvPr/>
        </p:nvSpPr>
        <p:spPr>
          <a:xfrm>
            <a:off x="9646920" y="502920"/>
            <a:ext cx="320040" cy="3200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ANALYTICS – Adda 247 – Learner ID:24CRD05100 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9692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Black Friday Sales Analysis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Requirements &amp; Analytics Planning Document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4297680"/>
            <a:ext cx="4892040" cy="1600200"/>
          </a:xfrm>
          <a:prstGeom prst="roundRect">
            <a:avLst>
              <a:gd name="adj" fmla="val 5143"/>
            </a:avLst>
          </a:prstGeom>
          <a:solidFill>
            <a:srgbClr val="2A3675"/>
          </a:solidFill>
          <a:ln/>
        </p:spPr>
      </p:sp>
      <p:sp>
        <p:nvSpPr>
          <p:cNvPr id="9" name="Shape 7"/>
          <p:cNvSpPr/>
          <p:nvPr/>
        </p:nvSpPr>
        <p:spPr>
          <a:xfrm>
            <a:off x="1051560" y="4617720"/>
            <a:ext cx="566928" cy="566928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0" name="Image 0" descr="/home/claude/bfsa/icons/tren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0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783080" y="455371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Transaction Volume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783080" y="493776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Friday drives peak demand across both physical and online retail channels.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943600" y="4297680"/>
            <a:ext cx="4892040" cy="1600200"/>
          </a:xfrm>
          <a:prstGeom prst="roundRect">
            <a:avLst>
              <a:gd name="adj" fmla="val 5143"/>
            </a:avLst>
          </a:prstGeom>
          <a:solidFill>
            <a:srgbClr val="2A3675"/>
          </a:solidFill>
          <a:ln/>
        </p:spPr>
      </p:sp>
      <p:sp>
        <p:nvSpPr>
          <p:cNvPr id="14" name="Shape 11"/>
          <p:cNvSpPr/>
          <p:nvPr/>
        </p:nvSpPr>
        <p:spPr>
          <a:xfrm>
            <a:off x="6263640" y="4617720"/>
            <a:ext cx="566928" cy="566928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5" name="Image 1" descr="/home/claude/bfsa/icons/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4754880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995160" y="455371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Sales Drivers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995160" y="493776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transaction scale makes identifying the primary underlying sales drivers difficult.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B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strategy &amp; analytics review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of Contents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3364992" cy="1481328"/>
          </a:xfrm>
          <a:prstGeom prst="roundRect">
            <a:avLst>
              <a:gd name="adj" fmla="val 5556"/>
            </a:avLst>
          </a:prstGeom>
          <a:solidFill>
            <a:srgbClr val="F7F8FC"/>
          </a:solidFill>
          <a:ln/>
          <a:effectLst>
            <a:outerShdw blurRad="101600" dist="38100" dir="5400000" algn="bl" rotWithShape="0">
              <a:srgbClr val="111111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93852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24128" y="2450592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24128" y="2816352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background &amp; business context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16552" y="1737360"/>
            <a:ext cx="3364992" cy="1481328"/>
          </a:xfrm>
          <a:prstGeom prst="roundRect">
            <a:avLst>
              <a:gd name="adj" fmla="val 5556"/>
            </a:avLst>
          </a:prstGeom>
          <a:solidFill>
            <a:srgbClr val="F7F8FC"/>
          </a:solidFill>
          <a:ln/>
          <a:effectLst>
            <a:outerShdw blurRad="101600" dist="38100" dir="5400000" algn="bl" rotWithShape="0">
              <a:srgbClr val="111111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90872" y="193852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709160" y="2450592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09160" y="2816352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Scale, fields, and data sources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01584" y="1737360"/>
            <a:ext cx="3364992" cy="1481328"/>
          </a:xfrm>
          <a:prstGeom prst="roundRect">
            <a:avLst>
              <a:gd name="adj" fmla="val 5556"/>
            </a:avLst>
          </a:prstGeom>
          <a:solidFill>
            <a:srgbClr val="F7F8FC"/>
          </a:solidFill>
          <a:ln/>
          <a:effectLst>
            <a:outerShdw blurRad="101600" dist="38100" dir="5400000" algn="bl" rotWithShape="0">
              <a:srgbClr val="111111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75904" y="193852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394192" y="2450592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Business Challenge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94192" y="2816352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Black Friday analytics is complex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474720"/>
            <a:ext cx="3364992" cy="1481328"/>
          </a:xfrm>
          <a:prstGeom prst="roundRect">
            <a:avLst>
              <a:gd name="adj" fmla="val 5556"/>
            </a:avLst>
          </a:prstGeom>
          <a:solidFill>
            <a:srgbClr val="F7F8FC"/>
          </a:solidFill>
          <a:ln/>
          <a:effectLst>
            <a:outerShdw blurRad="101600" dist="38100" dir="5400000" algn="bl" rotWithShape="0">
              <a:srgbClr val="111111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05840" y="36758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024128" y="4187952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Project Objectives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24128" y="4553712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aim to uncover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16552" y="3474720"/>
            <a:ext cx="3364992" cy="1481328"/>
          </a:xfrm>
          <a:prstGeom prst="roundRect">
            <a:avLst>
              <a:gd name="adj" fmla="val 5556"/>
            </a:avLst>
          </a:prstGeom>
          <a:solidFill>
            <a:srgbClr val="F7F8FC"/>
          </a:solidFill>
          <a:ln/>
          <a:effectLst>
            <a:outerShdw blurRad="101600" dist="38100" dir="5400000" algn="bl" rotWithShape="0">
              <a:srgbClr val="111111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90872" y="36758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709160" y="4187952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Scope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09160" y="4553712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In-scope activities &amp; deliverables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01584" y="3474720"/>
            <a:ext cx="3364992" cy="1481328"/>
          </a:xfrm>
          <a:prstGeom prst="roundRect">
            <a:avLst>
              <a:gd name="adj" fmla="val 5556"/>
            </a:avLst>
          </a:prstGeom>
          <a:solidFill>
            <a:srgbClr val="F7F8FC"/>
          </a:solidFill>
          <a:ln/>
          <a:effectLst>
            <a:outerShdw blurRad="101600" dist="38100" dir="5400000" algn="bl" rotWithShape="0">
              <a:srgbClr val="111111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375904" y="36758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8394192" y="4187952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KPI Framework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394192" y="4553712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that define success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49808" y="5163374"/>
            <a:ext cx="3364992" cy="1481328"/>
          </a:xfrm>
          <a:prstGeom prst="roundRect">
            <a:avLst>
              <a:gd name="adj" fmla="val 5556"/>
            </a:avLst>
          </a:prstGeom>
          <a:solidFill>
            <a:srgbClr val="F7F8FC"/>
          </a:solidFill>
          <a:ln/>
          <a:effectLst>
            <a:outerShdw blurRad="101600" dist="38100" dir="5400000" algn="bl" rotWithShape="0">
              <a:srgbClr val="111111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005840" y="541324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1024128" y="5925312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Hypotheses Testing Plan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24128" y="6291072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our assumptions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416552" y="5212080"/>
            <a:ext cx="3364992" cy="1481328"/>
          </a:xfrm>
          <a:prstGeom prst="roundRect">
            <a:avLst>
              <a:gd name="adj" fmla="val 5556"/>
            </a:avLst>
          </a:prstGeom>
          <a:solidFill>
            <a:srgbClr val="F7F8FC"/>
          </a:solidFill>
          <a:ln/>
          <a:effectLst>
            <a:outerShdw blurRad="101600" dist="38100" dir="5400000" algn="bl" rotWithShape="0">
              <a:srgbClr val="111111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690872" y="541324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4709160" y="5925312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Methodology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709160" y="6291072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end-to-end execution roadmap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101584" y="5212080"/>
            <a:ext cx="3364992" cy="1481328"/>
          </a:xfrm>
          <a:prstGeom prst="roundRect">
            <a:avLst>
              <a:gd name="adj" fmla="val 5556"/>
            </a:avLst>
          </a:prstGeom>
          <a:solidFill>
            <a:srgbClr val="F7F8FC"/>
          </a:solidFill>
          <a:ln/>
          <a:effectLst>
            <a:outerShdw blurRad="101600" dist="38100" dir="5400000" algn="bl" rotWithShape="0">
              <a:srgbClr val="111111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375904" y="541324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8394192" y="5925312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Business Outcomes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394192" y="6291072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delivered to the business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784080" y="172150"/>
            <a:ext cx="22078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FRIDAY SALES ANALYSIS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Introduction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45720" cy="4343400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74520"/>
            <a:ext cx="6080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Friday has evolved from a single shopping day into a global retail phenomenon. </a:t>
            </a: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large retailers, it represents both a massive revenue opportunity and a high-stakes challenge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millions of customers flooding physical stores and e-commerce platforms, engaging with thousands of products in a single high-pressure sales window.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3840480"/>
            <a:ext cx="6080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organization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leading retailer with presence across metro and non-metro cities — has captured a rich dataset of customer demographics, product purchases, and transaction details from a major Black Friday sales campaign. This project turns that raw data into actionable retail strategy.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52360" y="1874520"/>
            <a:ext cx="3566160" cy="4343400"/>
          </a:xfrm>
          <a:prstGeom prst="roundRect">
            <a:avLst>
              <a:gd name="adj" fmla="val 2308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11111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818120" y="2240280"/>
            <a:ext cx="640080" cy="64008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9" name="Image 0" descr="/home/claude/bfsa/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237744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818120" y="3063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MANDATE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818120" y="33832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Analytics Consultant, Retail Analytics Center of Excellence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818120" y="420624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 patterns in customer behavior, product demand, and sales performance — and translate them into strategic recommendations for future mega-events.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FRIDAY SALES ANALYSIS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Black Friday sales extract capturing customer demographics, product mix, and transaction value.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2450592" cy="1051560"/>
          </a:xfrm>
          <a:prstGeom prst="roundRect">
            <a:avLst>
              <a:gd name="adj" fmla="val 7826"/>
            </a:avLst>
          </a:prstGeom>
          <a:solidFill>
            <a:srgbClr val="F7F8FC"/>
          </a:solidFill>
          <a:ln/>
          <a:effectLst>
            <a:outerShdw blurRad="101600" dist="38100" dir="5400000" algn="bl" rotWithShape="0">
              <a:srgbClr val="111111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093976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550,068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2624328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01568" y="1965960"/>
            <a:ext cx="2450592" cy="1051560"/>
          </a:xfrm>
          <a:prstGeom prst="roundRect">
            <a:avLst>
              <a:gd name="adj" fmla="val 7826"/>
            </a:avLst>
          </a:prstGeom>
          <a:solidFill>
            <a:srgbClr val="F7F8FC"/>
          </a:solidFill>
          <a:ln/>
          <a:effectLst>
            <a:outerShdw blurRad="101600" dist="38100" dir="5400000" algn="bl" rotWithShape="0">
              <a:srgbClr val="111111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01568" y="2093976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5,891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401568" y="2624328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71616" y="1965960"/>
            <a:ext cx="2450592" cy="1051560"/>
          </a:xfrm>
          <a:prstGeom prst="roundRect">
            <a:avLst>
              <a:gd name="adj" fmla="val 7826"/>
            </a:avLst>
          </a:prstGeom>
          <a:solidFill>
            <a:srgbClr val="F7F8FC"/>
          </a:solidFill>
          <a:ln/>
          <a:effectLst>
            <a:outerShdw blurRad="101600" dist="38100" dir="5400000" algn="bl" rotWithShape="0">
              <a:srgbClr val="111111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71616" y="2093976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3,631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071616" y="2624328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PRODUCTS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741664" y="1965960"/>
            <a:ext cx="2450592" cy="1051560"/>
          </a:xfrm>
          <a:prstGeom prst="roundRect">
            <a:avLst>
              <a:gd name="adj" fmla="val 7826"/>
            </a:avLst>
          </a:prstGeom>
          <a:solidFill>
            <a:srgbClr val="F7F8FC"/>
          </a:solidFill>
          <a:ln/>
          <a:effectLst>
            <a:outerShdw blurRad="101600" dist="38100" dir="5400000" algn="bl" rotWithShape="0">
              <a:srgbClr val="111111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741664" y="2093976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741664" y="2624328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FIELDS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3337560"/>
            <a:ext cx="5212080" cy="3063240"/>
          </a:xfrm>
          <a:prstGeom prst="roundRect">
            <a:avLst>
              <a:gd name="adj" fmla="val 2687"/>
            </a:avLst>
          </a:prstGeom>
          <a:solidFill>
            <a:srgbClr val="F7F8FC"/>
          </a:solidFill>
          <a:ln/>
          <a:effectLst>
            <a:outerShdw blurRad="101600" dist="38100" dir="5400000" algn="bl" rotWithShape="0">
              <a:srgbClr val="111111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097280" y="3703320"/>
            <a:ext cx="566928" cy="566928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9" name="Image 0" descr="/home/claude/bfsa/icons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3840480"/>
            <a:ext cx="292608" cy="29260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828800" y="37490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Attributes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1097280" y="4480560"/>
            <a:ext cx="4480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–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Gender, Age (7 bands)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–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 code &amp; Marital Status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–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Category (A / B / C)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–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stayed in current city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400800" y="3337560"/>
            <a:ext cx="5212080" cy="3063240"/>
          </a:xfrm>
          <a:prstGeom prst="roundRect">
            <a:avLst>
              <a:gd name="adj" fmla="val 2687"/>
            </a:avLst>
          </a:prstGeom>
          <a:solidFill>
            <a:srgbClr val="F7F8FC"/>
          </a:solidFill>
          <a:ln/>
          <a:effectLst>
            <a:outerShdw blurRad="101600" dist="38100" dir="5400000" algn="bl" rotWithShape="0">
              <a:srgbClr val="111111">
                <a:alpha val="1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766560" y="3703320"/>
            <a:ext cx="566928" cy="566928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24" name="Image 1" descr="/home/claude/bfsa/icons/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3840480"/>
            <a:ext cx="292608" cy="29260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498080" y="37490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&amp; Transaction Attributes</a:t>
            </a:r>
            <a:endParaRPr lang="en-US" sz="1550" dirty="0"/>
          </a:p>
        </p:txBody>
      </p:sp>
      <p:sp>
        <p:nvSpPr>
          <p:cNvPr id="26" name="Text 22"/>
          <p:cNvSpPr/>
          <p:nvPr/>
        </p:nvSpPr>
        <p:spPr>
          <a:xfrm>
            <a:off x="6766560" y="4480560"/>
            <a:ext cx="4480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–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ID &amp; Purchase amount (target variable)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–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Category 1 — always present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–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Category 2 &amp; 3 — partially missing, treated in data cleaning</a:t>
            </a:r>
            <a:endParaRPr lang="en-US" sz="1250" dirty="0"/>
          </a:p>
        </p:txBody>
      </p:sp>
      <p:sp>
        <p:nvSpPr>
          <p:cNvPr id="27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FRIDAY SALES ANALYSIS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Business Challenge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Peak-scale Black Friday demand hides its own drivers behind fragmented customer and geographic signals.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31520" y="2057400"/>
            <a:ext cx="5212080" cy="4160520"/>
          </a:xfrm>
          <a:prstGeom prst="roundRect">
            <a:avLst>
              <a:gd name="adj" fmla="val 1978"/>
            </a:avLst>
          </a:prstGeom>
          <a:solidFill>
            <a:srgbClr val="F7F8FC"/>
          </a:solidFill>
          <a:ln/>
          <a:effectLst>
            <a:outerShdw blurRad="101600" dist="38100" dir="5400000" algn="bl" rotWithShape="0">
              <a:srgbClr val="11111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0" y="2423160"/>
            <a:ext cx="658368" cy="658368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7" name="Image 0" descr="/home/claude/bfsa/icons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256032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32918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 Insights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097280" y="38862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Purchasing behavior varies significantly across demographic factors: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97280" y="4389120"/>
            <a:ext cx="4480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&amp; Gender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 &amp; Marital Status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Tenure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0" y="2057400"/>
            <a:ext cx="5212080" cy="4160520"/>
          </a:xfrm>
          <a:prstGeom prst="roundRect">
            <a:avLst>
              <a:gd name="adj" fmla="val 1978"/>
            </a:avLst>
          </a:prstGeom>
          <a:solidFill>
            <a:srgbClr val="F7F8FC"/>
          </a:solidFill>
          <a:ln/>
          <a:effectLst>
            <a:outerShdw blurRad="101600" dist="38100" dir="5400000" algn="bl" rotWithShape="0">
              <a:srgbClr val="111111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766560" y="2423160"/>
            <a:ext cx="658368" cy="658368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3" name="Image 1" descr="/home/claude/bfsa/icons/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2560320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766560" y="32918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Geographic &amp; Demand Variability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6766560" y="3886200"/>
            <a:ext cx="44805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spending patterns differ across City Categories A, B, and C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Fluctuating demand across product categories complicates inventory and marketing planning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FRIDAY SALES ANALYSIS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Project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5212080" cy="4572000"/>
          </a:xfrm>
          <a:prstGeom prst="roundRect">
            <a:avLst>
              <a:gd name="adj" fmla="val 1800"/>
            </a:avLst>
          </a:prstGeom>
          <a:solidFill>
            <a:srgbClr val="F7F8FC"/>
          </a:solidFill>
          <a:ln/>
          <a:effectLst>
            <a:outerShdw blurRad="101600" dist="38100" dir="5400000" algn="bl" rotWithShape="0">
              <a:srgbClr val="11111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057400"/>
            <a:ext cx="640080" cy="64008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6" name="Image 0" descr="/home/claude/bfsa/icons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21945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1031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&amp; Geographic Insights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1097280" y="2926080"/>
            <a:ext cx="4480560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97280" y="3154680"/>
            <a:ext cx="44805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400"/>
              </a:spcAft>
              <a:buSzPct val="100000"/>
              <a:buChar char="–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highest-value customer segments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400"/>
              </a:spcAft>
              <a:buSzPct val="100000"/>
              <a:buChar char="–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demographic influences (age, gender, occupation, city tenure)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400"/>
              </a:spcAft>
              <a:buSzPct val="100000"/>
              <a:buChar char="–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performance across City Categories A, B, and C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400"/>
              </a:spcAft>
              <a:buSzPct val="100000"/>
              <a:buChar char="–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behavioral patterns of high-value and repeat buyers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0" y="1691640"/>
            <a:ext cx="5212080" cy="4572000"/>
          </a:xfrm>
          <a:prstGeom prst="roundRect">
            <a:avLst>
              <a:gd name="adj" fmla="val 1800"/>
            </a:avLst>
          </a:prstGeom>
          <a:solidFill>
            <a:srgbClr val="F7F8FC"/>
          </a:solidFill>
          <a:ln/>
          <a:effectLst>
            <a:outerShdw blurRad="101600" dist="38100" dir="5400000" algn="bl" rotWithShape="0">
              <a:srgbClr val="111111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766560" y="2057400"/>
            <a:ext cx="640080" cy="64008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2" name="Image 1" descr="/home/claude/bfsa/icons/trend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219456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89520" y="21031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&amp; Strategic Insights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6766560" y="2926080"/>
            <a:ext cx="4480560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766560" y="3154680"/>
            <a:ext cx="44805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400"/>
              </a:spcAft>
              <a:buSzPct val="100000"/>
              <a:buChar char="–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 high-performing vs. underperforming product categories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400"/>
              </a:spcAft>
              <a:buSzPct val="100000"/>
              <a:buChar char="–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category penetration and customer buying breadth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400"/>
              </a:spcAft>
              <a:buSzPct val="100000"/>
              <a:buChar char="–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cross-selling and upselling opportunities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400"/>
              </a:spcAft>
              <a:buSzPct val="100000"/>
              <a:buChar char="–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Formulate data-driven recommendations for future campaigns and loyalty initiatives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FRIDAY SALES ANALYSIS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Scope — In-Scope Activities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5212080" cy="2148840"/>
          </a:xfrm>
          <a:prstGeom prst="roundRect">
            <a:avLst>
              <a:gd name="adj" fmla="val 3830"/>
            </a:avLst>
          </a:prstGeom>
          <a:solidFill>
            <a:srgbClr val="F7F8FC"/>
          </a:solidFill>
          <a:ln/>
          <a:effectLst>
            <a:outerShdw blurRad="101600" dist="38100" dir="5400000" algn="bl" rotWithShape="0">
              <a:srgbClr val="11111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566928" cy="566928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6" name="Image 0" descr="/home/claude/bfsa/icons/clip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19456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0" y="196596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E3E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51560" y="2743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 &amp; Data Setup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51560" y="31546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requirement analysis, KPI framework development, data validation, cleaning, and missing value treatment.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0" y="1737360"/>
            <a:ext cx="5212080" cy="2148840"/>
          </a:xfrm>
          <a:prstGeom prst="roundRect">
            <a:avLst>
              <a:gd name="adj" fmla="val 3830"/>
            </a:avLst>
          </a:prstGeom>
          <a:solidFill>
            <a:srgbClr val="F7F8FC"/>
          </a:solidFill>
          <a:ln/>
          <a:effectLst>
            <a:outerShdw blurRad="101600" dist="38100" dir="5400000" algn="bl" rotWithShape="0">
              <a:srgbClr val="111111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720840" y="2057400"/>
            <a:ext cx="566928" cy="566928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2" name="Image 1" descr="/home/claude/bfsa/icons/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219456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698480" y="196596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E3E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720840" y="2743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&amp; Advanced Analytics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720840" y="31546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(EDA) in Python &amp; SQL, customer demographic/geographic analysis, and segmentation.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31520" y="4251960"/>
            <a:ext cx="5212080" cy="2148840"/>
          </a:xfrm>
          <a:prstGeom prst="roundRect">
            <a:avLst>
              <a:gd name="adj" fmla="val 3830"/>
            </a:avLst>
          </a:prstGeom>
          <a:solidFill>
            <a:srgbClr val="F7F8FC"/>
          </a:solidFill>
          <a:ln/>
          <a:effectLst>
            <a:outerShdw blurRad="101600" dist="38100" dir="5400000" algn="bl" rotWithShape="0">
              <a:srgbClr val="111111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1051560" y="4572000"/>
            <a:ext cx="566928" cy="566928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8" name="Image 2" descr="/home/claude/bfsa/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4709160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029200" y="448056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E3E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1051560" y="5257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&amp; Dashboards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051560" y="56692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hypothesis testing (T-Tests, ANOVA) and interactive Power BI / Tableau dashboard development.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400800" y="4251960"/>
            <a:ext cx="5212080" cy="2148840"/>
          </a:xfrm>
          <a:prstGeom prst="roundRect">
            <a:avLst>
              <a:gd name="adj" fmla="val 3830"/>
            </a:avLst>
          </a:prstGeom>
          <a:solidFill>
            <a:srgbClr val="F7F8FC"/>
          </a:solidFill>
          <a:ln/>
          <a:effectLst>
            <a:outerShdw blurRad="101600" dist="38100" dir="5400000" algn="bl" rotWithShape="0">
              <a:srgbClr val="111111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720840" y="4572000"/>
            <a:ext cx="566928" cy="566928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24" name="Image 3" descr="/home/claude/bfsa/icons/targ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4709160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698480" y="448056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E3E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6" name="Text 20"/>
          <p:cNvSpPr/>
          <p:nvPr/>
        </p:nvSpPr>
        <p:spPr>
          <a:xfrm>
            <a:off x="6720840" y="5257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Strategy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6720840" y="56692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of strategic business recommendations based on empirical findings.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FRIDAY SALES ANALYSIS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FRAMEWORK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KPI Framework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3429000" cy="4709160"/>
          </a:xfrm>
          <a:prstGeom prst="roundRect">
            <a:avLst>
              <a:gd name="adj" fmla="val 2400"/>
            </a:avLst>
          </a:prstGeom>
          <a:solidFill>
            <a:srgbClr val="F7F8FC"/>
          </a:solidFill>
          <a:ln/>
          <a:effectLst>
            <a:outerShdw blurRad="101600" dist="38100" dir="5400000" algn="bl" rotWithShape="0">
              <a:srgbClr val="11111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24128" y="1984248"/>
            <a:ext cx="512064" cy="512064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6" name="Image 0" descr="/home/claude/bfsa/icons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288" y="212140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26060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Metrics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1005840" y="3246120"/>
            <a:ext cx="82296" cy="82296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9" name="Text 6"/>
          <p:cNvSpPr/>
          <p:nvPr/>
        </p:nvSpPr>
        <p:spPr>
          <a:xfrm>
            <a:off x="1188720" y="317296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88720" y="3438144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count of purchasing User_IDs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1005840" y="4005072"/>
            <a:ext cx="82296" cy="82296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2" name="Text 9"/>
          <p:cNvSpPr/>
          <p:nvPr/>
        </p:nvSpPr>
        <p:spPr>
          <a:xfrm>
            <a:off x="1188720" y="39319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Purchase per Customer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88720" y="419709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/ Unique Customers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1005840" y="4764024"/>
            <a:ext cx="82296" cy="82296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5" name="Text 12"/>
          <p:cNvSpPr/>
          <p:nvPr/>
        </p:nvSpPr>
        <p:spPr>
          <a:xfrm>
            <a:off x="1188720" y="469087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Purchase Rate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188720" y="495604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customers with more than one transaction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1005840" y="5522976"/>
            <a:ext cx="82296" cy="82296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8" name="Text 15"/>
          <p:cNvSpPr/>
          <p:nvPr/>
        </p:nvSpPr>
        <p:spPr>
          <a:xfrm>
            <a:off x="1188720" y="544982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Share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188720" y="57150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customers exceeding high-value spend thresholds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425696" y="1691640"/>
            <a:ext cx="3429000" cy="4709160"/>
          </a:xfrm>
          <a:prstGeom prst="roundRect">
            <a:avLst>
              <a:gd name="adj" fmla="val 2400"/>
            </a:avLst>
          </a:prstGeom>
          <a:solidFill>
            <a:srgbClr val="F7F8FC"/>
          </a:solidFill>
          <a:ln/>
          <a:effectLst>
            <a:outerShdw blurRad="101600" dist="38100" dir="5400000" algn="bl" rotWithShape="0">
              <a:srgbClr val="111111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718304" y="1984248"/>
            <a:ext cx="512064" cy="512064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22" name="Image 1" descr="/home/claude/bfsa/icons/c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5464" y="2121408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4700016" y="26060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&amp; Sales Metrics</a:t>
            </a:r>
            <a:endParaRPr lang="en-US" sz="1550" dirty="0"/>
          </a:p>
        </p:txBody>
      </p:sp>
      <p:sp>
        <p:nvSpPr>
          <p:cNvPr id="24" name="Shape 20"/>
          <p:cNvSpPr/>
          <p:nvPr/>
        </p:nvSpPr>
        <p:spPr>
          <a:xfrm>
            <a:off x="4700016" y="3246120"/>
            <a:ext cx="82296" cy="82296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5" name="Text 21"/>
          <p:cNvSpPr/>
          <p:nvPr/>
        </p:nvSpPr>
        <p:spPr>
          <a:xfrm>
            <a:off x="4882896" y="317296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&amp; Transactions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4882896" y="3438144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spending and transaction counts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4700016" y="4005072"/>
            <a:ext cx="82296" cy="82296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8" name="Text 24"/>
          <p:cNvSpPr/>
          <p:nvPr/>
        </p:nvSpPr>
        <p:spPr>
          <a:xfrm>
            <a:off x="4882896" y="39319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Purchase Value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4882896" y="419709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/ Total Transactions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4700016" y="4764024"/>
            <a:ext cx="82296" cy="82296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1" name="Text 27"/>
          <p:cNvSpPr/>
          <p:nvPr/>
        </p:nvSpPr>
        <p:spPr>
          <a:xfrm>
            <a:off x="4882896" y="469087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Penetration &amp; Breadth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4882896" y="495604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participation and product variety per user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8119872" y="1691640"/>
            <a:ext cx="3429000" cy="4709160"/>
          </a:xfrm>
          <a:prstGeom prst="roundRect">
            <a:avLst>
              <a:gd name="adj" fmla="val 2400"/>
            </a:avLst>
          </a:prstGeom>
          <a:solidFill>
            <a:srgbClr val="F7F8FC"/>
          </a:solidFill>
          <a:ln/>
          <a:effectLst>
            <a:outerShdw blurRad="101600" dist="38100" dir="5400000" algn="bl" rotWithShape="0">
              <a:srgbClr val="111111">
                <a:alpha val="18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8412480" y="1984248"/>
            <a:ext cx="512064" cy="512064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35" name="Image 2" descr="/home/claude/bfsa/icons/p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9640" y="2121408"/>
            <a:ext cx="237744" cy="237744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8394192" y="26060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Geographic Metrics</a:t>
            </a:r>
            <a:endParaRPr lang="en-US" sz="1550" dirty="0"/>
          </a:p>
        </p:txBody>
      </p:sp>
      <p:sp>
        <p:nvSpPr>
          <p:cNvPr id="37" name="Shape 32"/>
          <p:cNvSpPr/>
          <p:nvPr/>
        </p:nvSpPr>
        <p:spPr>
          <a:xfrm>
            <a:off x="8394192" y="3246120"/>
            <a:ext cx="82296" cy="82296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8" name="Text 33"/>
          <p:cNvSpPr/>
          <p:nvPr/>
        </p:nvSpPr>
        <p:spPr>
          <a:xfrm>
            <a:off x="8577072" y="317296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Contribution</a:t>
            </a:r>
            <a:endParaRPr lang="en-US" sz="1200" dirty="0"/>
          </a:p>
        </p:txBody>
      </p:sp>
      <p:sp>
        <p:nvSpPr>
          <p:cNvPr id="39" name="Text 34"/>
          <p:cNvSpPr/>
          <p:nvPr/>
        </p:nvSpPr>
        <p:spPr>
          <a:xfrm>
            <a:off x="8577072" y="3438144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 split across City Categories A, B, and C</a:t>
            </a:r>
            <a:endParaRPr lang="en-US" sz="1050" dirty="0"/>
          </a:p>
        </p:txBody>
      </p:sp>
      <p:sp>
        <p:nvSpPr>
          <p:cNvPr id="40" name="Text 3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FRIDAY SALES ANALYSIS</a:t>
            </a:r>
            <a:endParaRPr lang="en-US" sz="900" dirty="0"/>
          </a:p>
        </p:txBody>
      </p:sp>
      <p:sp>
        <p:nvSpPr>
          <p:cNvPr id="41" name="Text 3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Hypotheses Testing Plan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5212080" cy="2240280"/>
          </a:xfrm>
          <a:prstGeom prst="roundRect">
            <a:avLst>
              <a:gd name="adj" fmla="val 3673"/>
            </a:avLst>
          </a:prstGeom>
          <a:solidFill>
            <a:srgbClr val="F7F8FC"/>
          </a:solidFill>
          <a:ln/>
          <a:effectLst>
            <a:outerShdw blurRad="101600" dist="38100" dir="5400000" algn="bl" rotWithShape="0">
              <a:srgbClr val="11111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24128" y="1947672"/>
            <a:ext cx="109728" cy="10972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1856232"/>
            <a:ext cx="4416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Gender vs. Purchase Value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24128" y="2203704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220370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Samples T-Test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24128" y="2642616"/>
            <a:ext cx="4626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 </a:t>
            </a: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significant difference in average spend between male and female customers.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24128" y="3227832"/>
            <a:ext cx="4626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  </a:t>
            </a: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difference in average spend between genders.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1691640"/>
            <a:ext cx="5212080" cy="2240280"/>
          </a:xfrm>
          <a:prstGeom prst="roundRect">
            <a:avLst>
              <a:gd name="adj" fmla="val 3673"/>
            </a:avLst>
          </a:prstGeom>
          <a:solidFill>
            <a:srgbClr val="F7F8FC"/>
          </a:solidFill>
          <a:ln/>
          <a:effectLst>
            <a:outerShdw blurRad="101600" dist="38100" dir="5400000" algn="bl" rotWithShape="0">
              <a:srgbClr val="111111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693408" y="1947672"/>
            <a:ext cx="109728" cy="10972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3" name="Text 11"/>
          <p:cNvSpPr/>
          <p:nvPr/>
        </p:nvSpPr>
        <p:spPr>
          <a:xfrm>
            <a:off x="6903720" y="1856232"/>
            <a:ext cx="4416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 Group vs. Purchase Value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693408" y="2203704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693408" y="220370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ANOVA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93408" y="2642616"/>
            <a:ext cx="4626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 </a:t>
            </a: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purchase values are equal across age groups.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93408" y="3227832"/>
            <a:ext cx="4626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  </a:t>
            </a: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age group differs significantly.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4251960"/>
            <a:ext cx="5212080" cy="2240280"/>
          </a:xfrm>
          <a:prstGeom prst="roundRect">
            <a:avLst>
              <a:gd name="adj" fmla="val 3673"/>
            </a:avLst>
          </a:prstGeom>
          <a:solidFill>
            <a:srgbClr val="F7F8FC"/>
          </a:solidFill>
          <a:ln/>
          <a:effectLst>
            <a:outerShdw blurRad="101600" dist="38100" dir="5400000" algn="bl" rotWithShape="0">
              <a:srgbClr val="111111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24128" y="4507992"/>
            <a:ext cx="109728" cy="10972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0" name="Text 18"/>
          <p:cNvSpPr/>
          <p:nvPr/>
        </p:nvSpPr>
        <p:spPr>
          <a:xfrm>
            <a:off x="1234440" y="4416552"/>
            <a:ext cx="4416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City Category vs. Purchase Value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24128" y="4764024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1024128" y="476402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ANOVA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24128" y="5202936"/>
            <a:ext cx="4626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 </a:t>
            </a: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spend does not differ across City Categories A, B, and C.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24128" y="5788152"/>
            <a:ext cx="4626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  </a:t>
            </a: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variance exists across city categories.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0" y="4251960"/>
            <a:ext cx="5212080" cy="2240280"/>
          </a:xfrm>
          <a:prstGeom prst="roundRect">
            <a:avLst>
              <a:gd name="adj" fmla="val 3673"/>
            </a:avLst>
          </a:prstGeom>
          <a:solidFill>
            <a:srgbClr val="F7F8FC"/>
          </a:solidFill>
          <a:ln/>
          <a:effectLst>
            <a:outerShdw blurRad="101600" dist="38100" dir="5400000" algn="bl" rotWithShape="0">
              <a:srgbClr val="111111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693408" y="4507992"/>
            <a:ext cx="109728" cy="10972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7" name="Text 25"/>
          <p:cNvSpPr/>
          <p:nvPr/>
        </p:nvSpPr>
        <p:spPr>
          <a:xfrm>
            <a:off x="6903720" y="4416552"/>
            <a:ext cx="4416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Marital Status vs. Purchase Value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693408" y="4764024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6693408" y="476402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Samples T-Test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693408" y="5202936"/>
            <a:ext cx="4626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 </a:t>
            </a: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Marital status does not influence average spend.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693408" y="5788152"/>
            <a:ext cx="4626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  </a:t>
            </a: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Marital status significantly influences average spend.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FRIDAY SALES ANALYSIS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Analytics Methodology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417320" y="3794760"/>
            <a:ext cx="9646920" cy="0"/>
          </a:xfrm>
          <a:prstGeom prst="line">
            <a:avLst/>
          </a:prstGeom>
          <a:noFill/>
          <a:ln w="25400">
            <a:solidFill>
              <a:srgbClr val="D8DC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7864" y="3575304"/>
            <a:ext cx="438912" cy="438912"/>
          </a:xfrm>
          <a:prstGeom prst="ellipse">
            <a:avLst/>
          </a:prstGeom>
          <a:solidFill>
            <a:srgbClr val="E6394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97864" y="35753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417320" y="3575304"/>
            <a:ext cx="0" cy="1197864"/>
          </a:xfrm>
          <a:prstGeom prst="line">
            <a:avLst/>
          </a:prstGeom>
          <a:noFill/>
          <a:ln w="15875">
            <a:solidFill>
              <a:srgbClr val="D8DCEA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251460" y="201168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51460" y="22402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Understanding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51460" y="272491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problems, KPIs, and hypotheses.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27248" y="3575304"/>
            <a:ext cx="438912" cy="438912"/>
          </a:xfrm>
          <a:prstGeom prst="ellipse">
            <a:avLst/>
          </a:prstGeom>
          <a:solidFill>
            <a:srgbClr val="E6394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27248" y="35753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346704" y="4014216"/>
            <a:ext cx="0" cy="1197864"/>
          </a:xfrm>
          <a:prstGeom prst="line">
            <a:avLst/>
          </a:prstGeom>
          <a:noFill/>
          <a:ln w="15875">
            <a:solidFill>
              <a:srgbClr val="D8DCEA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2180844" y="42062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2–3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180844" y="44348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Validation &amp; Preparation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180844" y="491947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data, handle missing values, standardize types.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56632" y="3575304"/>
            <a:ext cx="438912" cy="438912"/>
          </a:xfrm>
          <a:prstGeom prst="ellipse">
            <a:avLst/>
          </a:prstGeom>
          <a:solidFill>
            <a:srgbClr val="E6394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56632" y="35753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276088" y="3575304"/>
            <a:ext cx="0" cy="1197864"/>
          </a:xfrm>
          <a:prstGeom prst="line">
            <a:avLst/>
          </a:prstGeom>
          <a:noFill/>
          <a:ln w="15875">
            <a:solidFill>
              <a:srgbClr val="D8DCEA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4110228" y="201168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10228" y="22402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Environment Preparation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110228" y="272491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design, constraints, and validation queries.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986016" y="3575304"/>
            <a:ext cx="438912" cy="438912"/>
          </a:xfrm>
          <a:prstGeom prst="ellipse">
            <a:avLst/>
          </a:prstGeom>
          <a:solidFill>
            <a:srgbClr val="E6394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86016" y="35753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205472" y="4014216"/>
            <a:ext cx="0" cy="1197864"/>
          </a:xfrm>
          <a:prstGeom prst="line">
            <a:avLst/>
          </a:prstGeom>
          <a:noFill/>
          <a:ln w="15875">
            <a:solidFill>
              <a:srgbClr val="D8DCEA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6039612" y="42062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5–6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039612" y="44348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&amp; Segmentation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039612" y="491947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Univariate/bivariate analysis; uncover cross-sell patterns.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915400" y="3575304"/>
            <a:ext cx="438912" cy="438912"/>
          </a:xfrm>
          <a:prstGeom prst="ellipse">
            <a:avLst/>
          </a:prstGeom>
          <a:solidFill>
            <a:srgbClr val="E6394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15400" y="35753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134856" y="3575304"/>
            <a:ext cx="0" cy="1197864"/>
          </a:xfrm>
          <a:prstGeom prst="line">
            <a:avLst/>
          </a:prstGeom>
          <a:noFill/>
          <a:ln w="15875">
            <a:solidFill>
              <a:srgbClr val="D8DCEA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7968996" y="201168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968996" y="22402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Analysis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968996" y="272491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hypothesis testing (T-Tests/ANOVA).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0844784" y="3575304"/>
            <a:ext cx="438912" cy="438912"/>
          </a:xfrm>
          <a:prstGeom prst="ellipse">
            <a:avLst/>
          </a:prstGeom>
          <a:solidFill>
            <a:srgbClr val="E6394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844784" y="35753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11064240" y="4014216"/>
            <a:ext cx="0" cy="1197864"/>
          </a:xfrm>
          <a:prstGeom prst="line">
            <a:avLst/>
          </a:prstGeom>
          <a:noFill/>
          <a:ln w="15875">
            <a:solidFill>
              <a:srgbClr val="D8DCEA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9898380" y="42062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8–9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9898380" y="44348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Dashboards &amp; Recommendations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9898380" y="491947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Power BI / Tableau tools; translate findings into action.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FRIDAY SALES ANALYSIS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931920"/>
            <a:ext cx="4754880" cy="4754880"/>
          </a:xfrm>
          <a:prstGeom prst="ellipse">
            <a:avLst/>
          </a:prstGeom>
          <a:solidFill>
            <a:srgbClr val="2A367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84124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Business Outcomes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3401568" cy="4297680"/>
          </a:xfrm>
          <a:prstGeom prst="roundRect">
            <a:avLst>
              <a:gd name="adj" fmla="val 2419"/>
            </a:avLst>
          </a:prstGeom>
          <a:solidFill>
            <a:srgbClr val="2A3675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2331720"/>
            <a:ext cx="685800" cy="68580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7" name="Image 0" descr="/home/claude/bfsa/icons/tren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246888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3291840"/>
            <a:ext cx="2670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Data-Driven Decision Making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097280" y="4251960"/>
            <a:ext cx="26700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from intuition to empirical insights across demographics and regions.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25696" y="1920240"/>
            <a:ext cx="3401568" cy="4297680"/>
          </a:xfrm>
          <a:prstGeom prst="roundRect">
            <a:avLst>
              <a:gd name="adj" fmla="val 2419"/>
            </a:avLst>
          </a:prstGeom>
          <a:solidFill>
            <a:srgbClr val="2A3675"/>
          </a:solidFill>
          <a:ln/>
        </p:spPr>
      </p:sp>
      <p:sp>
        <p:nvSpPr>
          <p:cNvPr id="11" name="Shape 8"/>
          <p:cNvSpPr/>
          <p:nvPr/>
        </p:nvSpPr>
        <p:spPr>
          <a:xfrm>
            <a:off x="4791456" y="2331720"/>
            <a:ext cx="685800" cy="68580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2" name="Image 1" descr="/home/claude/bfsa/icons/tar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616" y="246888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91456" y="3291840"/>
            <a:ext cx="2670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Optimized Campaign Targeting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4791456" y="4251960"/>
            <a:ext cx="26700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 promotional offers to statistically validated high-value customer segments.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119872" y="1920240"/>
            <a:ext cx="3401568" cy="4297680"/>
          </a:xfrm>
          <a:prstGeom prst="roundRect">
            <a:avLst>
              <a:gd name="adj" fmla="val 2419"/>
            </a:avLst>
          </a:prstGeom>
          <a:solidFill>
            <a:srgbClr val="2A3675"/>
          </a:solidFill>
          <a:ln/>
        </p:spPr>
      </p:sp>
      <p:sp>
        <p:nvSpPr>
          <p:cNvPr id="16" name="Shape 12"/>
          <p:cNvSpPr/>
          <p:nvPr/>
        </p:nvSpPr>
        <p:spPr>
          <a:xfrm>
            <a:off x="8485632" y="2331720"/>
            <a:ext cx="685800" cy="68580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7" name="Image 2" descr="/home/claude/bfsa/icons/pack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2792" y="246888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85632" y="3291840"/>
            <a:ext cx="2670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Enhanced Inventory &amp; Merchandising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8485632" y="4251960"/>
            <a:ext cx="26700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stock allocation and product grouping across city tiers based on demand breadth.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A8B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FRIDAY SALES ANALYSIS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B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1022</Words>
  <Application>Microsoft Office PowerPoint</Application>
  <PresentationFormat>Widescreen</PresentationFormat>
  <Paragraphs>205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Arijit Dutta</cp:lastModifiedBy>
  <cp:revision>2</cp:revision>
  <dcterms:created xsi:type="dcterms:W3CDTF">2026-09-05T14:53:48Z</dcterms:created>
  <dcterms:modified xsi:type="dcterms:W3CDTF">2026-09-05T15:28:59Z</dcterms:modified>
</cp:coreProperties>
</file>